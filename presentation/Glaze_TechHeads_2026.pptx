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445" r:id="rId6"/>
    <p:sldId id="446" r:id="rId7"/>
    <p:sldId id="457" r:id="rId24"/>
    <p:sldId id="461" r:id="rId28"/>
    <p:sldId id="454" r:id="rId8"/>
    <p:sldId id="453" r:id="rId9"/>
    <p:sldId id="459" r:id="rId26"/>
    <p:sldId id="456" r:id="rId23"/>
    <p:sldId id="464" r:id="rId31"/>
    <p:sldId id="448" r:id="rId11"/>
    <p:sldId id="449" r:id="rId12"/>
    <p:sldId id="450" r:id="rId13"/>
    <p:sldId id="455" r:id="rId22"/>
    <p:sldId id="462" r:id="rId29"/>
    <p:sldId id="451" r:id="rId14"/>
    <p:sldId id="452" r:id="rId15"/>
    <p:sldId id="46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8DDD26C-8466-4900-A527-7D2357163CDE}">
          <p14:sldIdLst>
            <p14:sldId id="256"/>
            <p14:sldId id="445"/>
            <p14:sldId id="446"/>
            <p14:sldId id="454"/>
            <p14:sldId id="453"/>
            <p14:sldId id="447"/>
            <p14:sldId id="448"/>
            <p14:sldId id="449"/>
            <p14:sldId id="450"/>
            <p14:sldId id="451"/>
            <p14:sldId id="452"/>
          </p14:sldIdLst>
        </p14:section>
        <p14:section name="ALTERNATIVE" id="{A7373508-7831-4C70-A124-DE2FD94ECCF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da" initials="R" lastIdx="16" clrIdx="0">
    <p:extLst>
      <p:ext uri="{19B8F6BF-5375-455C-9EA6-DF929625EA0E}">
        <p15:presenceInfo xmlns:p15="http://schemas.microsoft.com/office/powerpoint/2012/main" userId="Rida" providerId="None"/>
      </p:ext>
    </p:extLst>
  </p:cmAuthor>
  <p:cmAuthor id="2" name="Flemming von Holck" initials="FvH" lastIdx="14" clrIdx="1">
    <p:extLst>
      <p:ext uri="{19B8F6BF-5375-455C-9EA6-DF929625EA0E}">
        <p15:presenceInfo xmlns:p15="http://schemas.microsoft.com/office/powerpoint/2012/main" userId="S::flemming.von.holck@glaze.dk::673c2254-1f6a-4058-aab5-606b35dd0350" providerId="AD"/>
      </p:ext>
    </p:extLst>
  </p:cmAuthor>
  <p:cmAuthor id="3" name="Jakob Appel" initials="JA" lastIdx="11" clrIdx="2">
    <p:extLst>
      <p:ext uri="{19B8F6BF-5375-455C-9EA6-DF929625EA0E}">
        <p15:presenceInfo xmlns:p15="http://schemas.microsoft.com/office/powerpoint/2012/main" userId="S::jakob.appel@glaze.dk::821c4ce8-448a-4d6d-b42d-f84a1e09c6b1" providerId="AD"/>
      </p:ext>
    </p:extLst>
  </p:cmAuthor>
  <p:cmAuthor id="4" name="Him" initials="H" lastIdx="31" clrIdx="3">
    <p:extLst>
      <p:ext uri="{19B8F6BF-5375-455C-9EA6-DF929625EA0E}">
        <p15:presenceInfo xmlns:p15="http://schemas.microsoft.com/office/powerpoint/2012/main" userId="Him" providerId="None"/>
      </p:ext>
    </p:extLst>
  </p:cmAuthor>
  <p:cmAuthor id="5" name="Najma Rachma" initials="NR" lastIdx="3" clrIdx="4">
    <p:extLst>
      <p:ext uri="{19B8F6BF-5375-455C-9EA6-DF929625EA0E}">
        <p15:presenceInfo xmlns:p15="http://schemas.microsoft.com/office/powerpoint/2012/main" userId="f70fb5df13e3d0f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1F27"/>
    <a:srgbClr val="D91F22"/>
    <a:srgbClr val="1E1C1D"/>
    <a:srgbClr val="7F7F7F"/>
    <a:srgbClr val="F1F1F1"/>
    <a:srgbClr val="3A3A3C"/>
    <a:srgbClr val="CD2630"/>
    <a:srgbClr val="9D2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801" autoAdjust="0"/>
  </p:normalViewPr>
  <p:slideViewPr>
    <p:cSldViewPr snapToGrid="0">
      <p:cViewPr varScale="1">
        <p:scale>
          <a:sx n="126" d="100"/>
          <a:sy n="126" d="100"/>
        </p:scale>
        <p:origin x="56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  <Relationship Id="rId22" Type="http://schemas.openxmlformats.org/officeDocument/2006/relationships/slide" Target="slides/slide12.xml"/>
  <Relationship Id="rId23" Type="http://schemas.openxmlformats.org/officeDocument/2006/relationships/slide" Target="slides/slide13.xml"/>
  <Relationship Id="rId24" Type="http://schemas.openxmlformats.org/officeDocument/2006/relationships/slide" Target="slides/slide14.xml"/>
  
  <Relationship Id="rId26" Type="http://schemas.openxmlformats.org/officeDocument/2006/relationships/slide" Target="slides/slide16.xml"/>
  
  <Relationship Id="rId28" Type="http://schemas.openxmlformats.org/officeDocument/2006/relationships/slide" Target="slides/slide18.xml"/>
  <Relationship Id="rId29" Type="http://schemas.openxmlformats.org/officeDocument/2006/relationships/slide" Target="slides/slide19.xml"/>
  
  <Relationship Id="rId31" Type="http://schemas.openxmlformats.org/officeDocument/2006/relationships/slide" Target="slides/slide21.xml"/>
  
  <Relationship Id="rId33" Type="http://schemas.openxmlformats.org/officeDocument/2006/relationships/slide" Target="slides/slide2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51EE5-2C15-46BA-9376-9EFFC39AABC6}" type="datetimeFigureOut">
              <a:rPr lang="en-ID" smtClean="0"/>
              <a:t>21/09/26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37162-7221-4DC4-BD3D-4424B4897F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809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9A2A9-3A12-4B3D-94A3-C220A9B81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57F82-6A7C-4A5C-9759-4269BE3CB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368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F53F-9AAC-46A7-BD33-B9A03184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FBC1-65B7-4D36-9352-1B63AD44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50B5EF-1303-48E2-91B5-8765601A6375}"/>
              </a:ext>
            </a:extLst>
          </p:cNvPr>
          <p:cNvCxnSpPr/>
          <p:nvPr userDrawn="1"/>
        </p:nvCxnSpPr>
        <p:spPr>
          <a:xfrm>
            <a:off x="838200" y="319596"/>
            <a:ext cx="520083" cy="0"/>
          </a:xfrm>
          <a:prstGeom prst="line">
            <a:avLst/>
          </a:prstGeom>
          <a:ln w="44450">
            <a:solidFill>
              <a:srgbClr val="D91F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54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1244D4-9706-4D86-B81D-D10A62DAEF84}"/>
              </a:ext>
            </a:extLst>
          </p:cNvPr>
          <p:cNvCxnSpPr/>
          <p:nvPr userDrawn="1"/>
        </p:nvCxnSpPr>
        <p:spPr>
          <a:xfrm>
            <a:off x="838200" y="319596"/>
            <a:ext cx="520083" cy="0"/>
          </a:xfrm>
          <a:prstGeom prst="line">
            <a:avLst/>
          </a:prstGeom>
          <a:ln w="44450">
            <a:solidFill>
              <a:srgbClr val="CD2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22F53F-9AAC-46A7-BD33-B9A03184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88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B94A6-9D8D-451D-A36C-D2CFB0B8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0646"/>
            <a:ext cx="1051560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a-DK"/>
              <a:t>Klik for at redigere titeltypografien i masteren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9C82F-CB70-4D56-96F2-FA383EC31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0619"/>
            <a:ext cx="10515600" cy="45789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ID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72FCB1-6960-4AEC-B0EB-198A4FC6839B}"/>
              </a:ext>
            </a:extLst>
          </p:cNvPr>
          <p:cNvSpPr txBox="1">
            <a:spLocks/>
          </p:cNvSpPr>
          <p:nvPr userDrawn="1"/>
        </p:nvSpPr>
        <p:spPr>
          <a:xfrm>
            <a:off x="1546860" y="6491778"/>
            <a:ext cx="4114800" cy="1692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/>
              <a:t>Glaze Presentation | Confidential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53DC12C-FC94-4EFB-9BBC-202E4E94A23F}"/>
              </a:ext>
            </a:extLst>
          </p:cNvPr>
          <p:cNvSpPr txBox="1">
            <a:spLocks/>
          </p:cNvSpPr>
          <p:nvPr userDrawn="1"/>
        </p:nvSpPr>
        <p:spPr>
          <a:xfrm>
            <a:off x="838200" y="6446579"/>
            <a:ext cx="520083" cy="259675"/>
          </a:xfrm>
          <a:prstGeom prst="roundRect">
            <a:avLst>
              <a:gd name="adj" fmla="val 50000"/>
            </a:avLst>
          </a:prstGeom>
          <a:solidFill>
            <a:srgbClr val="D91F27"/>
          </a:solidFill>
          <a:ln>
            <a:solidFill>
              <a:srgbClr val="D91F27"/>
            </a:solidFill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CB94E3-7609-4ED5-850D-251A24DE94D2}" type="slidenum">
              <a:rPr lang="en-ID" smtClean="0"/>
              <a:pPr/>
              <a:t>‹#›</a:t>
            </a:fld>
            <a:endParaRPr lang="en-ID" dirty="0"/>
          </a:p>
        </p:txBody>
      </p:sp>
      <p:pic>
        <p:nvPicPr>
          <p:cNvPr id="6" name="Billede 7">
            <a:extLst>
              <a:ext uri="{FF2B5EF4-FFF2-40B4-BE49-F238E27FC236}">
                <a16:creationId xmlns:a16="http://schemas.microsoft.com/office/drawing/2014/main" id="{3BB82536-9009-4FF2-B9D6-C0F4DEA0B68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082" y="6065449"/>
            <a:ext cx="457718" cy="64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5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net" Type="http://schemas.openxmlformats.org/officeDocument/2006/relationships/image" Target="../media/image_network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mg" Type="http://schemas.openxmlformats.org/officeDocument/2006/relationships/image" Target="../media/image_bronderslev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bg" Type="http://schemas.openxmlformats.org/officeDocument/2006/relationships/image" Target="../media/image_city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_grid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_domain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_chaos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_meter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_impact.png"/><Relationship Id="rIdmosk" Type="http://schemas.openxmlformats.org/officeDocument/2006/relationships/image" Target="../media/image_moskogen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_q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holding, person&#10;&#10;Description automatically generated">
            <a:extLst>
              <a:ext uri="{FF2B5EF4-FFF2-40B4-BE49-F238E27FC236}">
                <a16:creationId xmlns:a16="http://schemas.microsoft.com/office/drawing/2014/main" id="{96C53E3B-DE8B-4CBA-92FC-97A832550A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" b="472"/>
          <a:stretch/>
        </p:blipFill>
        <p:spPr>
          <a:xfrm>
            <a:off x="0" y="-1"/>
            <a:ext cx="12191998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18C1681-2F0B-4DD2-BA17-10CE99C05C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1C1D">
                  <a:alpha val="77000"/>
                </a:srgbClr>
              </a:gs>
              <a:gs pos="100000">
                <a:schemeClr val="tx1">
                  <a:alpha val="8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3" name="Billede 36">
            <a:extLst>
              <a:ext uri="{FF2B5EF4-FFF2-40B4-BE49-F238E27FC236}">
                <a16:creationId xmlns:a16="http://schemas.microsoft.com/office/drawing/2014/main" id="{1C748638-C944-456A-BFC9-AA3C1E83B1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61" y="283115"/>
            <a:ext cx="557421" cy="780389"/>
          </a:xfrm>
          <a:prstGeom prst="rect">
            <a:avLst/>
          </a:prstGeom>
        </p:spPr>
      </p:pic>
      <p:sp>
        <p:nvSpPr>
          <p:cNvPr id="8" name="Title_SM">
            <a:extLst>
              <a:ext uri="{FF2B5EF4-FFF2-40B4-BE49-F238E27FC236}">
                <a16:creationId xmlns:a16="http://schemas.microsoft.com/office/drawing/2014/main" id="{A17CC2BD-6ECC-4231-A2EF-17399A755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00" y="5250000"/>
            <a:ext cx="6000000" cy="1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0" rIns="72000" bIns="0" numCol="1" rtlCol="0" anchor="ctr" anchorCtr="0" compatLnSpc="1">
            <a:prstTxWarp prst="textNoShape">
              <a:avLst/>
            </a:prstTxWarp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TechHeads 2026</a:t>
            </a:r>
          </a:p>
          <a:p>
            <a:endParaRPr lang="en-DK" dirty="0">
              <a:solidFill>
                <a:schemeClr val="bg1"/>
              </a:solidFill>
            </a:endParaRPr>
          </a:p>
          <a:p>
            <a:r>
              <a:rPr lang="en-DK" dirty="0">
                <a:solidFill>
                  <a:schemeClr val="bg1"/>
                </a:solidFill>
              </a:rPr>
              <a:t>Glaze</a:t>
            </a:r>
          </a:p>
          <a:p>
            <a:r>
              <a:rPr lang="en-DK" dirty="0">
                <a:solidFill>
                  <a:schemeClr val="bg1"/>
                </a:solidFill>
              </a:rPr>
              <a:t>Fredrik Svensson</a:t>
            </a:r>
          </a:p>
          <a:p>
            <a:r>
              <a:rPr lang="en-DK" dirty="0">
                <a:solidFill>
                  <a:schemeClr val="bg1"/>
                </a:solidFill>
              </a:rPr>
              <a:t>Alexander Wallin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ruta 70">
            <a:extLst>
              <a:ext uri="{FF2B5EF4-FFF2-40B4-BE49-F238E27FC236}">
                <a16:creationId xmlns:a16="http://schemas.microsoft.com/office/drawing/2014/main" id="{4D0A2290-E05B-4189-9632-F2FF05B8E00A}"/>
              </a:ext>
            </a:extLst>
          </p:cNvPr>
          <p:cNvSpPr txBox="1"/>
          <p:nvPr/>
        </p:nvSpPr>
        <p:spPr>
          <a:xfrm>
            <a:off x="590000" y="3250000"/>
            <a:ext cx="9000000" cy="17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DK" sz="4000" dirty="0">
                <a:solidFill>
                  <a:schemeClr val="bg1"/>
                </a:solidFill>
                <a:latin typeface="Arial" panose="020B0702040204020203" pitchFamily="34" charset="0"/>
                <a:ea typeface="Calibri" panose="020F0502020204030204" pitchFamily="34" charset="0"/>
                <a:cs typeface="Arial" panose="020B0702040204020203" pitchFamily="34" charset="0"/>
              </a:rPr>
              <a:t>The city breathes</a:t>
            </a:r>
            <a:br>
              <a:rPr lang="en-DK" sz="2000" dirty="0">
                <a:solidFill>
                  <a:schemeClr val="bg1"/>
                </a:solidFill>
                <a:latin typeface="Arial" panose="020B0702040204020203" pitchFamily="34" charset="0"/>
                <a:ea typeface="Calibri" panose="020F0502020204030204" pitchFamily="34" charset="0"/>
                <a:cs typeface="Arial" panose="020B0702040204020203" pitchFamily="34" charset="0"/>
              </a:rPr>
            </a:br>
            <a:r>
              <a:rPr lang="en-DK" sz="2000" dirty="0">
                <a:solidFill>
                  <a:schemeClr val="bg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Real-time AI control of district heating</a:t>
            </a:r>
          </a:p>
        </p:txBody>
      </p:sp>
    </p:spTree>
    <p:extLst>
      <p:ext uri="{BB962C8B-B14F-4D97-AF65-F5344CB8AC3E}">
        <p14:creationId xmlns:p14="http://schemas.microsoft.com/office/powerpoint/2010/main" val="238443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Who we are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b="1" dirty="0"/>
              <a:t>Glaze — eleven years bringing IoT and AI to small and mid-size companies. Offices in Malmö and Denmark.</a:t>
            </a:r>
          </a:p>
          <a:p>
            <a:pPr>
              <a:buNone/>
            </a:pPr>
            <a:r>
              <a:rPr lang="en-DK" dirty="0"/>
              <a:t>Beacon Tower is our platform for real-time data and AI on physical systems, built from the start for cost and automation — to make this affordable for the many, not just the few. A product in its own right, used across many industries (beacontower.io).</a:t>
            </a:r>
          </a:p>
          <a:p>
            <a:pPr>
              <a:buNone/>
            </a:pPr>
            <a:r>
              <a:rPr lang="en-DK" dirty="0"/>
              <a:t>RACE — Real-time AI Computing in the Energy sector — is what we build on it for district heating, and the product we’re now bringing to market.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District heating is a living system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087" y="1500000"/>
            <a:ext cx="5250000" cy="4700000"/>
          </a:xfrm>
        </p:spPr>
        <p:txBody>
          <a:bodyPr/>
          <a:lstStyle/>
          <a:p>
            <a:pPr>
              <a:buNone/>
            </a:pPr>
            <a:r>
              <a:rPr lang="en-DK" dirty="0"/>
              <a:t>Roughly half the heat in Sweden and Denmark flows through district heating: hot water pumped through kilometres of buried pipe.</a:t>
            </a:r>
          </a:p>
          <a:p>
            <a:pPr>
              <a:buNone/>
            </a:pPr>
            <a:r>
              <a:rPr lang="en-DK" b="1" dirty="0"/>
              <a:t>It behaves like an organism: it breathes with the day and the seasons, it changes as it grows, and it reacts slowly — in minutes to hours, not seconds.</a:t>
            </a:r>
          </a:p>
          <a:p>
            <a:pPr>
              <a:buNone/>
            </a:pPr>
            <a:r>
              <a:rPr lang="en-DK" dirty="0"/>
              <a:t>And most of it still runs on fixed schedules and operator experience — a living system that never learns to regulate itself.</a:t>
            </a:r>
          </a:p>
        </p:txBody>
      </p:sp>
      <p:pic>
        <p:nvPicPr>
          <p:cNvPr id="100" name="network"/>
          <p:cNvPicPr>
            <a:picLocks noChangeAspect="1"/>
          </p:cNvPicPr>
          <p:nvPr/>
        </p:nvPicPr>
        <p:blipFill>
          <a:blip r:embed="rIdnet"/>
          <a:stretch>
            <a:fillRect/>
          </a:stretch>
        </p:blipFill>
        <p:spPr>
          <a:xfrm>
            <a:off x="6226634" y="1554480"/>
            <a:ext cx="564502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This is what one building looks like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Real heat data from a single building (substation). No model yet — just what the sensors on the building see.</a:t>
            </a:r>
          </a:p>
        </p:txBody>
      </p:sp>
      <p:pic>
        <p:nvPicPr>
          <p:cNvPr id="2" name="realtime_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2286000"/>
            <a:ext cx="9875520" cy="41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Plot it against the weather, and it starts to make sense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The same messy demand, plotted against outdoor temperature. Out of the noise, a clear trend appears — colder means more heat.</a:t>
            </a:r>
          </a:p>
        </p:txBody>
      </p:sp>
      <p:pic>
        <p:nvPicPr>
          <p:cNvPr id="2" name="scatter_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013" y="2194560"/>
            <a:ext cx="5927669" cy="39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 real grid: Brønderslev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Live on the Jyllandsgade section — 454 connected consumers — as part of the EUDP-funded RACE project with Aalborg University.</a:t>
            </a:r>
          </a:p>
          <a:p>
            <a:pPr>
              <a:buNone/>
            </a:pPr>
            <a:r>
              <a:rPr lang="en-DK" dirty="0"/>
              <a:t>13 intelligent bypasses plus AI-based pressure control, taking setpoints from Beacon Tower through the plant’s existing SCADA.</a:t>
            </a:r>
          </a:p>
          <a:p>
            <a:pPr>
              <a:buNone/>
            </a:pPr>
            <a:r>
              <a:rPr lang="en-DK" b="1" dirty="0"/>
              <a:t>A hydraulic optimisation: getting heat to where it’s needed more efficiently — without raising the temperature leaving the plant.</a:t>
            </a:r>
          </a:p>
        </p:txBody>
      </p:sp>
      <p:pic>
        <p:nvPicPr>
          <p:cNvPr id="60" name="bronderslev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7071055" y="3481781"/>
            <a:ext cx="4572000" cy="2736138"/>
          </a:xfrm>
          <a:prstGeom prst="rect">
            <a:avLst/>
          </a:prstGeom>
        </p:spPr>
      </p:pic>
      <p:sp>
        <p:nvSpPr>
          <p:cNvPr id="61" name="attrib"/>
          <p:cNvSpPr>
            <a:spLocks noGrp="1"/>
          </p:cNvSpPr>
          <p:nvPr/>
        </p:nvSpPr>
        <p:spPr>
          <a:xfrm>
            <a:off x="7071055" y="6236207"/>
            <a:ext cx="4572000" cy="29260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sz="700">
                <a:solidFill>
                  <a:srgbClr val="A6A6A6"/>
                </a:solidFill>
              </a:rPr>
              <a:t>Brønderslev © tsca, CC BY-SA 3.0,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result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2" name="stat0"/>
          <p:cNvSpPr/>
          <p:nvPr/>
        </p:nvSpPr>
        <p:spPr>
          <a:xfrm>
            <a:off x="822960" y="1783080"/>
            <a:ext cx="2895600" cy="233172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ab0"/>
          <p:cNvSpPr txBox="1"/>
          <p:nvPr/>
        </p:nvSpPr>
        <p:spPr>
          <a:xfrm>
            <a:off x="1078992" y="1984248"/>
            <a:ext cx="2438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1200" b="1" dirty="0">
                <a:solidFill>
                  <a:srgbClr val="D91F22"/>
                </a:solidFill>
                <a:latin typeface="Arial"/>
              </a:rPr>
              <a:t>WINTER</a:t>
            </a:r>
          </a:p>
        </p:txBody>
      </p:sp>
      <p:sp>
        <p:nvSpPr>
          <p:cNvPr id="4" name="big0"/>
          <p:cNvSpPr txBox="1"/>
          <p:nvPr/>
        </p:nvSpPr>
        <p:spPr>
          <a:xfrm>
            <a:off x="1078992" y="2350008"/>
            <a:ext cx="24384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5400" b="1" dirty="0">
                <a:solidFill>
                  <a:srgbClr val="1E1C1D"/>
                </a:solidFill>
                <a:latin typeface="Arial"/>
              </a:rPr>
              <a:t>7.3</a:t>
            </a:r>
            <a:r>
              <a:rPr lang="en-DK" sz="2200" b="1" dirty="0">
                <a:solidFill>
                  <a:srgbClr val="1E1C1D"/>
                </a:solidFill>
                <a:latin typeface="Arial"/>
              </a:rPr>
              <a:t> %</a:t>
            </a:r>
          </a:p>
        </p:txBody>
      </p:sp>
      <p:sp>
        <p:nvSpPr>
          <p:cNvPr id="5" name="sub0"/>
          <p:cNvSpPr txBox="1"/>
          <p:nvPr/>
        </p:nvSpPr>
        <p:spPr>
          <a:xfrm>
            <a:off x="1078992" y="3355848"/>
            <a:ext cx="2438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1200" dirty="0">
                <a:solidFill>
                  <a:srgbClr val="3A3A3C"/>
                </a:solidFill>
                <a:latin typeface="Arial"/>
              </a:rPr>
              <a:t>less energy used</a:t>
            </a:r>
          </a:p>
          <a:p>
            <a:pPr algn="l"/>
            <a:r>
              <a:rPr lang="en-DK" sz="1100" dirty="0">
                <a:solidFill>
                  <a:srgbClr val="7F7F7F"/>
                </a:solidFill>
                <a:latin typeface="Arial"/>
              </a:rPr>
              <a:t>(degree-day corrected)</a:t>
            </a:r>
          </a:p>
        </p:txBody>
      </p:sp>
      <p:sp>
        <p:nvSpPr>
          <p:cNvPr id="6" name="stat1"/>
          <p:cNvSpPr/>
          <p:nvPr/>
        </p:nvSpPr>
        <p:spPr>
          <a:xfrm>
            <a:off x="4038600" y="1783080"/>
            <a:ext cx="2895600" cy="233172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lab1"/>
          <p:cNvSpPr txBox="1"/>
          <p:nvPr/>
        </p:nvSpPr>
        <p:spPr>
          <a:xfrm>
            <a:off x="4294632" y="1984248"/>
            <a:ext cx="2438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1200" b="1" dirty="0">
                <a:solidFill>
                  <a:srgbClr val="D91F22"/>
                </a:solidFill>
                <a:latin typeface="Arial"/>
              </a:rPr>
              <a:t>SUMMER</a:t>
            </a:r>
          </a:p>
        </p:txBody>
      </p:sp>
      <p:sp>
        <p:nvSpPr>
          <p:cNvPr id="10" name="big1"/>
          <p:cNvSpPr txBox="1"/>
          <p:nvPr/>
        </p:nvSpPr>
        <p:spPr>
          <a:xfrm>
            <a:off x="4294632" y="2350008"/>
            <a:ext cx="24384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5400" b="1" dirty="0">
                <a:solidFill>
                  <a:srgbClr val="1E1C1D"/>
                </a:solidFill>
                <a:latin typeface="Arial"/>
              </a:rPr>
              <a:t>26.3</a:t>
            </a:r>
            <a:r>
              <a:rPr lang="en-DK" sz="2200" b="1" dirty="0">
                <a:solidFill>
                  <a:srgbClr val="1E1C1D"/>
                </a:solidFill>
                <a:latin typeface="Arial"/>
              </a:rPr>
              <a:t> %</a:t>
            </a:r>
          </a:p>
        </p:txBody>
      </p:sp>
      <p:sp>
        <p:nvSpPr>
          <p:cNvPr id="11" name="sub1"/>
          <p:cNvSpPr txBox="1"/>
          <p:nvPr/>
        </p:nvSpPr>
        <p:spPr>
          <a:xfrm>
            <a:off x="4294632" y="3355848"/>
            <a:ext cx="2438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1200" dirty="0">
                <a:solidFill>
                  <a:srgbClr val="3A3A3C"/>
                </a:solidFill>
                <a:latin typeface="Arial"/>
              </a:rPr>
              <a:t>less energy used</a:t>
            </a:r>
          </a:p>
          <a:p>
            <a:pPr algn="l"/>
            <a:r>
              <a:rPr lang="en-DK" sz="1100" dirty="0">
                <a:solidFill>
                  <a:srgbClr val="7F7F7F"/>
                </a:solidFill>
                <a:latin typeface="Arial"/>
              </a:rPr>
              <a:t>(larger — still verifying why)</a:t>
            </a:r>
          </a:p>
        </p:txBody>
      </p:sp>
      <p:sp>
        <p:nvSpPr>
          <p:cNvPr id="12" name="stat2"/>
          <p:cNvSpPr/>
          <p:nvPr/>
        </p:nvSpPr>
        <p:spPr>
          <a:xfrm>
            <a:off x="7254240" y="1783080"/>
            <a:ext cx="2895600" cy="233172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lab2"/>
          <p:cNvSpPr txBox="1"/>
          <p:nvPr/>
        </p:nvSpPr>
        <p:spPr>
          <a:xfrm>
            <a:off x="7510272" y="1984248"/>
            <a:ext cx="2438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1200" b="1" dirty="0">
                <a:solidFill>
                  <a:srgbClr val="D91F22"/>
                </a:solidFill>
                <a:latin typeface="Arial"/>
              </a:rPr>
              <a:t>HEAT UTILISATION</a:t>
            </a:r>
          </a:p>
        </p:txBody>
      </p:sp>
      <p:sp>
        <p:nvSpPr>
          <p:cNvPr id="14" name="big2a"/>
          <p:cNvSpPr txBox="1"/>
          <p:nvPr/>
        </p:nvSpPr>
        <p:spPr>
          <a:xfrm>
            <a:off x="7510272" y="2350008"/>
            <a:ext cx="2438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3200" b="1" dirty="0">
                <a:solidFill>
                  <a:srgbClr val="1E1C1D"/>
                </a:solidFill>
                <a:latin typeface="Arial"/>
              </a:rPr>
              <a:t>+2.7</a:t>
            </a:r>
            <a:r>
              <a:rPr lang="en-DK" sz="1600" b="1" dirty="0">
                <a:solidFill>
                  <a:srgbClr val="1E1C1D"/>
                </a:solidFill>
                <a:latin typeface="Arial"/>
              </a:rPr>
              <a:t> pts</a:t>
            </a:r>
            <a:r>
              <a:rPr lang="en-DK" sz="1200" dirty="0">
                <a:solidFill>
                  <a:srgbClr val="7F7F7F"/>
                </a:solidFill>
                <a:latin typeface="Arial"/>
              </a:rPr>
              <a:t>  winter</a:t>
            </a:r>
          </a:p>
        </p:txBody>
      </p:sp>
      <p:sp>
        <p:nvSpPr>
          <p:cNvPr id="15" name="big2b"/>
          <p:cNvSpPr txBox="1"/>
          <p:nvPr/>
        </p:nvSpPr>
        <p:spPr>
          <a:xfrm>
            <a:off x="7510272" y="2862072"/>
            <a:ext cx="24384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3200" b="1" dirty="0">
                <a:solidFill>
                  <a:srgbClr val="1E1C1D"/>
                </a:solidFill>
                <a:latin typeface="Arial"/>
              </a:rPr>
              <a:t>+3.3</a:t>
            </a:r>
            <a:r>
              <a:rPr lang="en-DK" sz="1600" b="1" dirty="0">
                <a:solidFill>
                  <a:srgbClr val="1E1C1D"/>
                </a:solidFill>
                <a:latin typeface="Arial"/>
              </a:rPr>
              <a:t> pts</a:t>
            </a:r>
            <a:r>
              <a:rPr lang="en-DK" sz="1200" dirty="0">
                <a:solidFill>
                  <a:srgbClr val="7F7F7F"/>
                </a:solidFill>
                <a:latin typeface="Arial"/>
              </a:rPr>
              <a:t>  summer</a:t>
            </a:r>
          </a:p>
        </p:txBody>
      </p:sp>
      <p:sp>
        <p:nvSpPr>
          <p:cNvPr id="16" name="sub2"/>
          <p:cNvSpPr txBox="1"/>
          <p:nvPr/>
        </p:nvSpPr>
        <p:spPr>
          <a:xfrm>
            <a:off x="7510272" y="3447288"/>
            <a:ext cx="24384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1200" dirty="0">
                <a:solidFill>
                  <a:srgbClr val="3A3A3C"/>
                </a:solidFill>
                <a:latin typeface="Arial"/>
              </a:rPr>
              <a:t>more delivered heat</a:t>
            </a:r>
          </a:p>
          <a:p>
            <a:pPr algn="l"/>
            <a:r>
              <a:rPr lang="en-DK" sz="1100" dirty="0">
                <a:solidFill>
                  <a:srgbClr val="7F7F7F"/>
                </a:solidFill>
                <a:latin typeface="Arial"/>
              </a:rPr>
              <a:t>reaches consumers</a:t>
            </a:r>
          </a:p>
        </p:txBody>
      </p:sp>
      <p:sp>
        <p:nvSpPr>
          <p:cNvPr id="17" name="cap"/>
          <p:cNvSpPr txBox="1"/>
          <p:nvPr/>
        </p:nvSpPr>
        <p:spPr>
          <a:xfrm>
            <a:off x="822960" y="4498848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DK" sz="1300" dirty="0">
                <a:solidFill>
                  <a:srgbClr val="3A3A3C"/>
                </a:solidFill>
                <a:latin typeface="Arial"/>
              </a:rPr>
              <a:t>Live on a real grid — measured and validated independently by Aalborg University, part of the</a:t>
            </a:r>
          </a:p>
          <a:p>
            <a:pPr algn="l"/>
            <a:r>
              <a:rPr lang="en-DK" sz="1300" dirty="0">
                <a:solidFill>
                  <a:srgbClr val="3A3A3C"/>
                </a:solidFill>
                <a:latin typeface="Arial"/>
              </a:rPr>
              <a:t>EUDP-funded RACE project. Achieved without raising the flow temperature leaving the plant.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What we learned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The gains showed up across the whole area — not just next to the hardware we installed. Better hydraulics help the system as a whole.</a:t>
            </a:r>
          </a:p>
          <a:p>
            <a:pPr>
              <a:buNone/>
            </a:pPr>
            <a:r>
              <a:rPr lang="en-DK" b="1" dirty="0"/>
              <a:t>The grid was conservatively run to begin with — which is exactly why there was so much to gain. Most small and mid-size grids are run the same way.</a:t>
            </a:r>
          </a:p>
          <a:p>
            <a:pPr>
              <a:buNone/>
            </a:pPr>
            <a:r>
              <a:rPr lang="en-DK" dirty="0"/>
              <a:t>Summer losses are structurally high — low demand means water sits and goes stale, so standby losses dominate. That is why summer had more to recover here. But 26% is not a promise for every grid.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This is a fast-moving moment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RACE 2.0 is live now: two new Danish grids, with RACE also heading to Swedish grids — as we bring it to market as a product.</a:t>
            </a:r>
          </a:p>
          <a:p>
            <a:pPr>
              <a:buNone/>
            </a:pPr>
            <a:r>
              <a:rPr lang="en-DK" dirty="0"/>
              <a:t>We’re adding demand-side management, targeting 10%+ yearly savings even as networks grow — using the heat already stored in buildings and pipes to spread demand in time, so the system serves everyone without over-building for the worst hour.</a:t>
            </a:r>
          </a:p>
          <a:p>
            <a:pPr>
              <a:buNone/>
            </a:pPr>
            <a:r>
              <a:rPr lang="en-DK" b="1" dirty="0"/>
              <a:t>Same principle throughout: start simple, stay cheap, earn trust before adding complexity.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bg"/>
          <p:cNvPicPr>
            <a:picLocks noChangeAspect="1"/>
          </p:cNvPicPr>
          <p:nvPr/>
        </p:nvPicPr>
        <p:blipFill>
          <a:blip r:embed="rIdbg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solidFill>
                  <a:srgbClr val="FFFFFF"/>
                </a:solidFill>
              </a:rPr>
              <a:t>The city breathes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>
                <a:solidFill>
                  <a:srgbClr val="FFFFFF"/>
                </a:solidFill>
              </a:rPr>
              <a:t>Heat demand runs in cycles — and any single moment is almost impossible to predict. Together, across a grid, it averages out.</a:t>
            </a:r>
          </a:p>
          <a:p>
            <a:pPr>
              <a:buNone/>
            </a:pPr>
            <a:r>
              <a:rPr lang="en-DK" b="1" dirty="0">
                <a:solidFill>
                  <a:srgbClr val="FFFFFF"/>
                </a:solidFill>
              </a:rPr>
              <a:t>Most district heating can run far leaner than it does today.</a:t>
            </a:r>
          </a:p>
          <a:p>
            <a:pPr>
              <a:buNone/>
            </a:pPr>
            <a:r>
              <a:rPr lang="en-DK" dirty="0">
                <a:solidFill>
                  <a:srgbClr val="FFFFFF"/>
                </a:solidFill>
              </a:rPr>
              <a:t>A genuinely interesting problem — with real potential, if it is done simply and well.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opportunity is the small grids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The big grids are already run tight — they have the money, the staff and the incentive to optimise. There’s no product for a market that already solves its own problem. The opening is the many small and mid-size grids, which are conservatively run and rarely optimised.</a:t>
            </a:r>
          </a:p>
          <a:p>
            <a:pPr>
              <a:buNone/>
            </a:pPr>
            <a:r>
              <a:rPr lang="en-DK" dirty="0"/>
              <a:t>This is what Glaze was built for: cheap and automated from the start — function first, not bells and whistles.</a:t>
            </a:r>
          </a:p>
          <a:p>
            <a:pPr>
              <a:buNone/>
            </a:pPr>
            <a:r>
              <a:rPr lang="en-DK" b="1" dirty="0"/>
              <a:t/>
            </a:r>
          </a:p>
        </p:txBody>
      </p:sp>
      <p:pic>
        <p:nvPicPr>
          <p:cNvPr id="7" name="grid_siz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5569" y="3429000"/>
            <a:ext cx="5580556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Why so many energy optimisation projects fail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Too complex: models that capture every detail need data the utility doesn’t have and an expert to babysit. When the grid changes, they quietly go stale.</a:t>
            </a:r>
          </a:p>
          <a:p>
            <a:pPr>
              <a:buNone/>
            </a:pPr>
            <a:r>
              <a:rPr lang="en-DK" dirty="0"/>
              <a:t>Too brittle: they shine in the demo, then break on the first messy week of real SCADA. Operators stop trusting them — and trust doesn’t come back.</a:t>
            </a:r>
          </a:p>
          <a:p>
            <a:pPr>
              <a:buNone/>
            </a:pPr>
            <a:r>
              <a:rPr lang="en-DK" b="1" dirty="0"/>
              <a:t>And all of that costs money to build and keep alive. Energy is a big industry on thin margins, run by engineers who can think and count — charge X a year and save barely more than X, and they will know. The value has to clearly beat the cost.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207451" y="3246120"/>
          <a:ext cx="5776792" cy="320040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So what makes this hard?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A slow system, hard physical limits, and thousands of consumers to keep warm at once — the worst-served one sets the bar.</a:t>
            </a:r>
          </a:p>
          <a:p>
            <a:pPr>
              <a:buNone/>
            </a:pPr>
            <a:r>
              <a:rPr lang="en-DK" dirty="0"/>
              <a:t>And you can’t experiment freely — get it wrong and people feel it, in a lukewarm shower or a cold radiator.</a:t>
            </a:r>
          </a:p>
          <a:p>
            <a:pPr>
              <a:buNone/>
            </a:pPr>
            <a:r>
              <a:rPr lang="en-DK" b="1" dirty="0"/>
              <a:t/>
            </a:r>
          </a:p>
        </p:txBody>
      </p:sp>
      <p:pic>
        <p:nvPicPr>
          <p:cNvPr id="7" name="grid_siz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2399" y="3017520"/>
            <a:ext cx="6106895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One building is chaos; the grid is calm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A single building’s demand jumps around wildly. Average enough of them and it settles into something smooth and predictable.</a:t>
            </a:r>
          </a:p>
          <a:p>
            <a:pPr>
              <a:buNone/>
            </a:pPr>
            <a:r>
              <a:rPr lang="en-DK" dirty="0"/>
              <a:t/>
            </a:r>
          </a:p>
          <a:p>
            <a:pPr>
              <a:buNone/>
            </a:pPr>
            <a:r>
              <a:rPr lang="en-DK" b="1" dirty="0"/>
              <a:t/>
            </a:r>
          </a:p>
        </p:txBody>
      </p:sp>
      <p:pic>
        <p:nvPicPr>
          <p:cNvPr id="7" name="grid_siz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9726" y="2926080"/>
            <a:ext cx="8432242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Every building already has a meter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It only ever ticks upward. The slope is the demand — flat in summer, steep in winter. This is the data every grid already owns.</a:t>
            </a:r>
          </a:p>
          <a:p>
            <a:pPr>
              <a:buNone/>
            </a:pPr>
            <a:r>
              <a:rPr lang="en-DK" dirty="0"/>
              <a:t/>
            </a:r>
          </a:p>
          <a:p>
            <a:pPr>
              <a:buNone/>
            </a:pPr>
            <a:r>
              <a:rPr lang="en-DK" b="1" dirty="0"/>
              <a:t/>
            </a:r>
          </a:p>
        </p:txBody>
      </p:sp>
      <p:pic>
        <p:nvPicPr>
          <p:cNvPr id="7" name="grid_siz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9858" y="2926080"/>
            <a:ext cx="7851977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/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/>
            </a:r>
          </a:p>
          <a:p>
            <a:pPr>
              <a:buNone/>
            </a:pPr>
            <a:r>
              <a:rPr lang="en-DK" dirty="0"/>
              <a:t/>
            </a:r>
          </a:p>
          <a:p>
            <a:pPr>
              <a:buNone/>
            </a:pPr>
            <a:r>
              <a:rPr lang="en-DK" b="1" dirty="0"/>
              <a:t/>
            </a:r>
          </a:p>
        </p:txBody>
      </p:sp>
      <p:pic>
        <p:nvPicPr>
          <p:cNvPr id="7" name="grid_siz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011680"/>
            <a:ext cx="7863840" cy="4122789"/>
          </a:xfrm>
          <a:prstGeom prst="rect">
            <a:avLst/>
          </a:prstGeom>
        </p:spPr>
      </p:pic>
      <p:pic>
        <p:nvPicPr>
          <p:cNvPr id="80" name="moskogen"/>
          <p:cNvPicPr>
            <a:picLocks noChangeAspect="1"/>
          </p:cNvPicPr>
          <p:nvPr/>
        </p:nvPicPr>
        <p:blipFill>
          <a:blip r:embed="rIdmosk"/>
          <a:stretch>
            <a:fillRect/>
          </a:stretch>
        </p:blipFill>
        <p:spPr>
          <a:xfrm>
            <a:off x="8305495" y="1371600"/>
            <a:ext cx="3383280" cy="2186992"/>
          </a:xfrm>
          <a:prstGeom prst="rect">
            <a:avLst/>
          </a:prstGeom>
        </p:spPr>
      </p:pic>
      <p:sp>
        <p:nvSpPr>
          <p:cNvPr id="81" name="moskcap"/>
          <p:cNvSpPr>
            <a:spLocks noGrp="1"/>
          </p:cNvSpPr>
          <p:nvPr/>
        </p:nvSpPr>
        <p:spPr>
          <a:xfrm>
            <a:off x="8305495" y="3650032"/>
            <a:ext cx="3383280" cy="32004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900">
                <a:solidFill>
                  <a:srgbClr val="7F7F7F"/>
                </a:solidFill>
              </a:rPr>
              <a:t>Kalmar’s Moskogen: ~360 GWh of heat a year — one “Moskogen”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RACE collaboration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RACE grew from deep domain knowledge in district heating — and from working alongside the people who run these grids. They are the real experts; no model is any good without them. The best results come with the operators in the loop, not replaced by it.</a:t>
            </a:r>
          </a:p>
          <a:p>
            <a:pPr>
              <a:buNone/>
            </a:pPr>
            <a:r>
              <a:rPr lang="en-DK" dirty="0"/>
              <a:t>An EUDP-funded collaboration led by Glaze, with Aalborg University, Brønderslev Forsyning, Energy Cluster Denmark, DEVELCO and Agerkrantz Controls.</a:t>
            </a:r>
          </a:p>
          <a:p>
            <a:pPr>
              <a:buNone/>
            </a:pPr>
            <a:r>
              <a:rPr lang="en-DK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EB66DF-4930-4ADC-8645-E92C1A6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Thank you</a:t>
            </a:r>
            <a:endParaRPr lang="da-D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F02E71-2D37-4BF2-84A9-AA6D01F6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DK" dirty="0"/>
              <a:t>See for yourself: the slides, the open datasets behind every chart, the code that makes them, and the reports we base our claims on — all here.</a:t>
            </a:r>
          </a:p>
          <a:p>
            <a:pPr>
              <a:buNone/>
            </a:pPr>
            <a:r>
              <a:rPr lang="en-DK" dirty="0"/>
              <a:t/>
            </a:r>
          </a:p>
          <a:p>
            <a:pPr>
              <a:buNone/>
            </a:pPr>
            <a:r>
              <a:rPr lang="en-DK" b="1" dirty="0"/>
              <a:t/>
            </a:r>
          </a:p>
        </p:txBody>
      </p:sp>
      <p:pic>
        <p:nvPicPr>
          <p:cNvPr id="7" name="grid_siz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1367" y="2743200"/>
            <a:ext cx="3108960" cy="3108960"/>
          </a:xfrm>
          <a:prstGeom prst="rect">
            <a:avLst/>
          </a:prstGeom>
        </p:spPr>
      </p:pic>
      <p:sp>
        <p:nvSpPr>
          <p:cNvPr id="70" name="qrcap"/>
          <p:cNvSpPr>
            <a:spLocks noGrp="1"/>
          </p:cNvSpPr>
          <p:nvPr/>
        </p:nvSpPr>
        <p:spPr>
          <a:xfrm>
            <a:off x="3352647" y="5989320"/>
            <a:ext cx="5486400" cy="36576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00">
                <a:solidFill>
                  <a:srgbClr val="A6A6A6"/>
                </a:solidFill>
              </a:rPr>
              <a:t>github.com/beacontower/techheads2026</a:t>
            </a:r>
          </a:p>
        </p:txBody>
      </p:sp>
    </p:spTree>
    <p:extLst>
      <p:ext uri="{BB962C8B-B14F-4D97-AF65-F5344CB8AC3E}">
        <p14:creationId xmlns:p14="http://schemas.microsoft.com/office/powerpoint/2010/main" val="2703146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Custom 6">
      <a:dk1>
        <a:srgbClr val="000000"/>
      </a:dk1>
      <a:lt1>
        <a:sysClr val="window" lastClr="FFFFFF"/>
      </a:lt1>
      <a:dk2>
        <a:srgbClr val="3F3F3B"/>
      </a:dk2>
      <a:lt2>
        <a:srgbClr val="E7E6E6"/>
      </a:lt2>
      <a:accent1>
        <a:srgbClr val="D91F22"/>
      </a:accent1>
      <a:accent2>
        <a:srgbClr val="1E1C1D"/>
      </a:accent2>
      <a:accent3>
        <a:srgbClr val="3A3A3C"/>
      </a:accent3>
      <a:accent4>
        <a:srgbClr val="F1F1F1"/>
      </a:accent4>
      <a:accent5>
        <a:srgbClr val="AEABAB"/>
      </a:accent5>
      <a:accent6>
        <a:srgbClr val="7F7F7F"/>
      </a:accent6>
      <a:hlink>
        <a:srgbClr val="0563C1"/>
      </a:hlink>
      <a:folHlink>
        <a:srgbClr val="954F72"/>
      </a:folHlink>
    </a:clrScheme>
    <a:fontScheme name="Custom 8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æsentation1" id="{E4EA577C-51FC-469C-8AE7-313AD1370ED0}" vid="{50A9AE30-4CF1-4417-A48A-248D90545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01fb8e-7530-47ce-8dad-99253db7e047">
      <Terms xmlns="http://schemas.microsoft.com/office/infopath/2007/PartnerControls"/>
    </lcf76f155ced4ddcb4097134ff3c332f>
    <TaxCatchAll xmlns="bf0fc571-d1e9-4e01-9b44-0e8a0caee1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F9776A199F094FA5DA26C2AB4CDA6C" ma:contentTypeVersion="20" ma:contentTypeDescription="Create a new document." ma:contentTypeScope="" ma:versionID="1b13ac7da2b0caa3c8aebf9db548ce79">
  <xsd:schema xmlns:xsd="http://www.w3.org/2001/XMLSchema" xmlns:xs="http://www.w3.org/2001/XMLSchema" xmlns:p="http://schemas.microsoft.com/office/2006/metadata/properties" xmlns:ns2="bf0fc571-d1e9-4e01-9b44-0e8a0caee1cb" xmlns:ns3="4501fb8e-7530-47ce-8dad-99253db7e047" targetNamespace="http://schemas.microsoft.com/office/2006/metadata/properties" ma:root="true" ma:fieldsID="65f5a5e9912ed31afdb9c8783122023a" ns2:_="" ns3:_="">
    <xsd:import namespace="bf0fc571-d1e9-4e01-9b44-0e8a0caee1cb"/>
    <xsd:import namespace="4501fb8e-7530-47ce-8dad-99253db7e04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fc571-d1e9-4e01-9b44-0e8a0caee1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5" nillable="true" ma:displayName="Taxonomy Catch All Column" ma:hidden="true" ma:list="{284f391d-28fc-404f-970d-05c40df9f8f2}" ma:internalName="TaxCatchAll" ma:showField="CatchAllData" ma:web="bf0fc571-d1e9-4e01-9b44-0e8a0caee1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1fb8e-7530-47ce-8dad-99253db7e0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a09611d3-9f56-4e61-8863-e14f21d5ef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16C1EE-09E2-4942-B3E0-BEF24DB27C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91AF46-8A33-4A34-A3A2-611560E719DD}">
  <ds:schemaRefs>
    <ds:schemaRef ds:uri="http://schemas.microsoft.com/office/2006/documentManagement/types"/>
    <ds:schemaRef ds:uri="bf0fc571-d1e9-4e01-9b44-0e8a0caee1cb"/>
    <ds:schemaRef ds:uri="http://schemas.microsoft.com/office/infopath/2007/PartnerControls"/>
    <ds:schemaRef ds:uri="4501fb8e-7530-47ce-8dad-99253db7e047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37800EF-B00C-4ACD-8882-C02F00F06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0fc571-d1e9-4e01-9b44-0e8a0caee1cb"/>
    <ds:schemaRef ds:uri="4501fb8e-7530-47ce-8dad-99253db7e0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0</TotalTime>
  <Words>636</Words>
  <Application>Microsoft Macintosh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Semibold</vt:lpstr>
      <vt:lpstr>Office-tema</vt:lpstr>
      <vt:lpstr>PowerPoint Presentation</vt:lpstr>
      <vt:lpstr>Who we are</vt:lpstr>
      <vt:lpstr>District heating is a giant, slow machine</vt:lpstr>
      <vt:lpstr>This is what one building looks like</vt:lpstr>
      <vt:lpstr>Why not just use the outdoor temperature?</vt:lpstr>
      <vt:lpstr>Why you can't brute-force it</vt:lpstr>
      <vt:lpstr>A real grid: Brønderslev</vt:lpstr>
      <vt:lpstr>The result</vt:lpstr>
      <vt:lpstr>What we learned</vt:lpstr>
      <vt:lpstr>Where it goes next</vt:lpstr>
      <vt:lpstr>The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Wallin</dc:creator>
  <cp:lastModifiedBy>Alexander Wallin</cp:lastModifiedBy>
  <cp:revision>1</cp:revision>
  <dcterms:created xsi:type="dcterms:W3CDTF">2026-09-21T21:33:45Z</dcterms:created>
  <dcterms:modified xsi:type="dcterms:W3CDTF">2026-09-21T21:33:59Z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0x010100C6F9776A199F094FA5DA26C2AB4CDA6C</vt:lpwstr>
  </property>
  <property fmtid="{D5CDD505-2E9C-101B-9397-08002B2CF9AE}" pid="3" name="MediaServiceImageTags">
    <vt:lpwstr/>
  </property>
</Properties>
</file>